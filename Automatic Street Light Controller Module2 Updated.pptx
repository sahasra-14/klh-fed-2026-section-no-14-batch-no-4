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eghanasruthi2007@outlook.com" userId="d5fc19993f128f0b" providerId="LiveId" clId="{7DB6F40D-0543-4E3E-AD43-6651F6FD3A9B}"/>
    <pc:docChg chg="modSld">
      <pc:chgData name="meghanasruthi2007@outlook.com" userId="d5fc19993f128f0b" providerId="LiveId" clId="{7DB6F40D-0543-4E3E-AD43-6651F6FD3A9B}" dt="2026-10-14T16:57:01.855" v="0" actId="20577"/>
      <pc:docMkLst>
        <pc:docMk/>
      </pc:docMkLst>
      <pc:sldChg chg="modSp mod">
        <pc:chgData name="meghanasruthi2007@outlook.com" userId="d5fc19993f128f0b" providerId="LiveId" clId="{7DB6F40D-0543-4E3E-AD43-6651F6FD3A9B}" dt="2026-10-14T16:57:01.855" v="0" actId="20577"/>
        <pc:sldMkLst>
          <pc:docMk/>
          <pc:sldMk cId="0" sldId="259"/>
        </pc:sldMkLst>
        <pc:spChg chg="mod">
          <ac:chgData name="meghanasruthi2007@outlook.com" userId="d5fc19993f128f0b" providerId="LiveId" clId="{7DB6F40D-0543-4E3E-AD43-6651F6FD3A9B}" dt="2026-10-14T16:57:01.855" v="0" actId="20577"/>
          <ac:spMkLst>
            <pc:docMk/>
            <pc:sldMk cId="0" sldId="259"/>
            <ac:spMk id="15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E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875520" y="731520"/>
            <a:ext cx="1097280" cy="1097280"/>
          </a:xfrm>
          <a:prstGeom prst="ellipse">
            <a:avLst/>
          </a:prstGeom>
          <a:solidFill>
            <a:srgbClr val="1FBE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744200" y="1645920"/>
            <a:ext cx="502920" cy="502920"/>
          </a:xfrm>
          <a:prstGeom prst="ellipse">
            <a:avLst/>
          </a:prstGeom>
          <a:solidFill>
            <a:srgbClr val="F5B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372600" y="2057400"/>
            <a:ext cx="384048" cy="384048"/>
          </a:xfrm>
          <a:prstGeom prst="ellipse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972800" y="2743200"/>
            <a:ext cx="822960" cy="822960"/>
          </a:xfrm>
          <a:prstGeom prst="ellipse">
            <a:avLst/>
          </a:prstGeom>
          <a:solidFill>
            <a:srgbClr val="1FBE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784080" y="3200400"/>
            <a:ext cx="274320" cy="274320"/>
          </a:xfrm>
          <a:prstGeom prst="ellipse">
            <a:avLst/>
          </a:prstGeom>
          <a:solidFill>
            <a:srgbClr val="F5B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530352"/>
            <a:ext cx="4572000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FBEB0"/>
                </a:solidFill>
                <a:latin typeface="Aptos"/>
              </a:rPr>
              <a:t>DIGITAL SYSTEMS PROJECT  |  MODULE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115568"/>
            <a:ext cx="8046720" cy="1417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 i="0">
                <a:solidFill>
                  <a:srgbClr val="F8FAFD"/>
                </a:solidFill>
                <a:latin typeface="Aptos"/>
              </a:rPr>
              <a:t>DESIGN &amp; SIMULATION OF AN</a:t>
            </a:r>
          </a:p>
          <a:p>
            <a:pPr algn="l">
              <a:spcAft>
                <a:spcPts val="400"/>
              </a:spcAft>
            </a:pPr>
            <a:r>
              <a:rPr sz="2900" b="1" i="0">
                <a:solidFill>
                  <a:srgbClr val="F8FAFD"/>
                </a:solidFill>
                <a:latin typeface="Aptos"/>
              </a:rPr>
              <a:t>AUTOMATIC STREET LIGHT CONTROLLER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788920"/>
            <a:ext cx="7132320" cy="5486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E2EBF5"/>
                </a:solidFill>
                <a:latin typeface="Aptos"/>
              </a:rPr>
              <a:t>A combinational-logic approach using sensor inputs, Boolean logic and simulation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95360" y="1143000"/>
            <a:ext cx="2423160" cy="1691640"/>
          </a:xfrm>
          <a:prstGeom prst="roundRect">
            <a:avLst/>
          </a:prstGeom>
          <a:solidFill>
            <a:srgbClr val="17304E"/>
          </a:solidFill>
          <a:ln w="25400">
            <a:solidFill>
              <a:srgbClr val="1FBE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796528" y="1673352"/>
            <a:ext cx="2011680" cy="41148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F8FAFD"/>
                </a:solidFill>
                <a:latin typeface="Aptos"/>
              </a:rPr>
              <a:t>LOGIC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302752" y="1353312"/>
            <a:ext cx="292608" cy="0"/>
          </a:xfrm>
          <a:prstGeom prst="line">
            <a:avLst/>
          </a:prstGeom>
          <a:ln w="25400">
            <a:solidFill>
              <a:srgbClr val="1FBE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1018520" y="1353312"/>
            <a:ext cx="301752" cy="0"/>
          </a:xfrm>
          <a:prstGeom prst="line">
            <a:avLst/>
          </a:prstGeom>
          <a:ln w="25400">
            <a:solidFill>
              <a:srgbClr val="1FBE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302752" y="1636776"/>
            <a:ext cx="292608" cy="0"/>
          </a:xfrm>
          <a:prstGeom prst="line">
            <a:avLst/>
          </a:prstGeom>
          <a:ln w="25400">
            <a:solidFill>
              <a:srgbClr val="1FBE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1018520" y="1636776"/>
            <a:ext cx="301752" cy="0"/>
          </a:xfrm>
          <a:prstGeom prst="line">
            <a:avLst/>
          </a:prstGeom>
          <a:ln w="25400">
            <a:solidFill>
              <a:srgbClr val="1FBE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302752" y="1920240"/>
            <a:ext cx="292608" cy="0"/>
          </a:xfrm>
          <a:prstGeom prst="line">
            <a:avLst/>
          </a:prstGeom>
          <a:ln w="25400">
            <a:solidFill>
              <a:srgbClr val="1FBE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1018520" y="1920240"/>
            <a:ext cx="301752" cy="0"/>
          </a:xfrm>
          <a:prstGeom prst="line">
            <a:avLst/>
          </a:prstGeom>
          <a:ln w="25400">
            <a:solidFill>
              <a:srgbClr val="1FBE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302752" y="2203704"/>
            <a:ext cx="292608" cy="0"/>
          </a:xfrm>
          <a:prstGeom prst="line">
            <a:avLst/>
          </a:prstGeom>
          <a:ln w="25400">
            <a:solidFill>
              <a:srgbClr val="1FBE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1018520" y="2203704"/>
            <a:ext cx="301752" cy="0"/>
          </a:xfrm>
          <a:prstGeom prst="line">
            <a:avLst/>
          </a:prstGeom>
          <a:ln w="25400">
            <a:solidFill>
              <a:srgbClr val="1FBE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302752" y="2487168"/>
            <a:ext cx="292608" cy="0"/>
          </a:xfrm>
          <a:prstGeom prst="line">
            <a:avLst/>
          </a:prstGeom>
          <a:ln w="25400">
            <a:solidFill>
              <a:srgbClr val="1FBE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018520" y="2487168"/>
            <a:ext cx="301752" cy="0"/>
          </a:xfrm>
          <a:prstGeom prst="line">
            <a:avLst/>
          </a:prstGeom>
          <a:ln w="25400">
            <a:solidFill>
              <a:srgbClr val="1FBE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85800" y="3767328"/>
            <a:ext cx="4572000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F5B748"/>
                </a:solidFill>
                <a:latin typeface="Aptos"/>
              </a:rPr>
              <a:t>TEAM MEMBERS  •  SECTION 14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4133087"/>
            <a:ext cx="7132320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F8FAFD"/>
                </a:solidFill>
                <a:latin typeface="Aptos"/>
              </a:rPr>
              <a:t>Mallepogu Meghana Sruthi  —  2620030293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4517136"/>
            <a:ext cx="7132320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F8FAFD"/>
                </a:solidFill>
                <a:latin typeface="Aptos"/>
              </a:rPr>
              <a:t>Lakshmi Sahasra Kosuri  —  2620030254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4901183"/>
            <a:ext cx="7132320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F8FAFD"/>
                </a:solidFill>
                <a:latin typeface="Aptos"/>
              </a:rPr>
              <a:t>Yelam Shanmuka Priya  —  2620030248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5285231"/>
            <a:ext cx="7132320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F8FAFD"/>
                </a:solidFill>
                <a:latin typeface="Aptos"/>
              </a:rPr>
              <a:t>Dundigalla Nirmuktha  —  2620030240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6016752"/>
            <a:ext cx="7315200" cy="25603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A4B7CD"/>
                </a:solidFill>
                <a:latin typeface="Aptos"/>
              </a:rPr>
              <a:t>COMBINATIONAL LOGIC  •  BOOLEAN DESIGN  •  LOGISIM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0" y="6473952"/>
            <a:ext cx="502920" cy="20116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1" i="0">
                <a:solidFill>
                  <a:srgbClr val="A4B7CD"/>
                </a:solidFill>
                <a:latin typeface="Apto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E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9875520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FBEB0"/>
                </a:solidFill>
                <a:latin typeface="Aptos"/>
              </a:rPr>
              <a:t>01  |  PROBLEM FRAMING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3035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F8FAFD"/>
                </a:solidFill>
                <a:latin typeface="Aptos"/>
              </a:rPr>
              <a:t>Introduction &amp; Project Objective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43584"/>
            <a:ext cx="685800" cy="50292"/>
          </a:xfrm>
          <a:prstGeom prst="rect">
            <a:avLst/>
          </a:prstGeom>
          <a:solidFill>
            <a:srgbClr val="F5B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6519672"/>
            <a:ext cx="8229600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1" i="0">
                <a:solidFill>
                  <a:srgbClr val="A4B7CD"/>
                </a:solidFill>
                <a:latin typeface="Aptos"/>
              </a:rPr>
              <a:t>MODULE 2  •  COMBINATIONAL LOGIC &amp; THE ALU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02920" cy="20116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1" i="0">
                <a:solidFill>
                  <a:srgbClr val="A4B7CD"/>
                </a:solidFill>
                <a:latin typeface="Aptos"/>
              </a:rPr>
              <a:t>02 / 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562830"/>
            <a:ext cx="3520440" cy="1938528"/>
          </a:xfrm>
          <a:prstGeom prst="roundRect">
            <a:avLst/>
          </a:prstGeom>
          <a:solidFill>
            <a:srgbClr val="17304E"/>
          </a:solidFill>
          <a:ln>
            <a:solidFill>
              <a:srgbClr val="2D48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94360" y="1682495"/>
            <a:ext cx="50292" cy="1719072"/>
          </a:xfrm>
          <a:prstGeom prst="rect">
            <a:avLst/>
          </a:prstGeom>
          <a:solidFill>
            <a:srgbClr val="1FBE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5528" y="1728216"/>
            <a:ext cx="3136392" cy="310896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8FAFD"/>
                </a:solidFill>
                <a:latin typeface="Aptos"/>
              </a:rPr>
              <a:t>THE IDEA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9798" y="2144218"/>
            <a:ext cx="3520440" cy="70173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 dirty="0">
                <a:solidFill>
                  <a:srgbClr val="E2EBF5"/>
                </a:solidFill>
                <a:latin typeface="Aptos"/>
              </a:rPr>
              <a:t>An automatic street light controller switches a lamp ON when ambient light is low and OFF when sufficient daylight is available.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5112" y="1572768"/>
            <a:ext cx="3520440" cy="1938528"/>
          </a:xfrm>
          <a:prstGeom prst="roundRect">
            <a:avLst/>
          </a:prstGeom>
          <a:solidFill>
            <a:srgbClr val="17304E"/>
          </a:solidFill>
          <a:ln>
            <a:solidFill>
              <a:srgbClr val="2D48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25112" y="1682495"/>
            <a:ext cx="50292" cy="1719072"/>
          </a:xfrm>
          <a:prstGeom prst="rect">
            <a:avLst/>
          </a:prstGeom>
          <a:solidFill>
            <a:srgbClr val="F5B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26280" y="1728216"/>
            <a:ext cx="3136392" cy="310896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8FAFD"/>
                </a:solidFill>
                <a:latin typeface="Aptos"/>
              </a:rPr>
              <a:t>WHY IT MATTERS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75987" y="2159175"/>
            <a:ext cx="3520441" cy="91717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 dirty="0">
                <a:solidFill>
                  <a:srgbClr val="E2EBF5"/>
                </a:solidFill>
                <a:latin typeface="Aptos"/>
              </a:rPr>
              <a:t>Automation can reduce unnecessary operating time, support consistent lighting control and limit the need for manual switching.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55864" y="1572768"/>
            <a:ext cx="3520440" cy="1938528"/>
          </a:xfrm>
          <a:prstGeom prst="roundRect">
            <a:avLst/>
          </a:prstGeom>
          <a:solidFill>
            <a:srgbClr val="17304E"/>
          </a:solidFill>
          <a:ln>
            <a:solidFill>
              <a:srgbClr val="2D48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55864" y="1682495"/>
            <a:ext cx="50292" cy="1719072"/>
          </a:xfrm>
          <a:prstGeom prst="rect">
            <a:avLst/>
          </a:prstGeom>
          <a:solidFill>
            <a:srgbClr val="54C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57032" y="1728216"/>
            <a:ext cx="3136392" cy="310896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8FAFD"/>
                </a:solidFill>
                <a:latin typeface="Aptos"/>
              </a:rPr>
              <a:t>PROJECT OBJECTIVE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5028" y="2170302"/>
            <a:ext cx="3204972" cy="91717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 dirty="0">
                <a:solidFill>
                  <a:srgbClr val="E2EBF5"/>
                </a:solidFill>
                <a:latin typeface="Aptos"/>
              </a:rPr>
              <a:t>Model the sensor decision as a Boolean function, implement it with logic gates and verify the expected outputs in Logisim.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3858768"/>
            <a:ext cx="4572000" cy="29260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FBEB0"/>
                </a:solidFill>
                <a:latin typeface="Aptos"/>
              </a:rPr>
              <a:t>SYSTEM SPECIFICATION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4370832"/>
            <a:ext cx="2148840" cy="713232"/>
          </a:xfrm>
          <a:prstGeom prst="roundRect">
            <a:avLst/>
          </a:prstGeom>
          <a:solidFill>
            <a:srgbClr val="20445F"/>
          </a:solidFill>
          <a:ln>
            <a:solidFill>
              <a:srgbClr val="1FBE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8FAFD"/>
                </a:solidFill>
                <a:latin typeface="Aptos"/>
              </a:rPr>
              <a:t>Light sensor input (L)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862072" y="4727448"/>
            <a:ext cx="841248" cy="0"/>
          </a:xfrm>
          <a:prstGeom prst="line">
            <a:avLst/>
          </a:prstGeom>
          <a:ln w="25400">
            <a:solidFill>
              <a:srgbClr val="F5B7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3703320" y="4370832"/>
            <a:ext cx="2194560" cy="713232"/>
          </a:xfrm>
          <a:prstGeom prst="roundRect">
            <a:avLst/>
          </a:prstGeom>
          <a:solidFill>
            <a:srgbClr val="20445F"/>
          </a:solidFill>
          <a:ln>
            <a:solidFill>
              <a:srgbClr val="F5B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8FAFD"/>
                </a:solidFill>
                <a:latin typeface="Aptos"/>
              </a:rPr>
              <a:t>NOT / decision logic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897880" y="4727448"/>
            <a:ext cx="822960" cy="0"/>
          </a:xfrm>
          <a:prstGeom prst="line">
            <a:avLst/>
          </a:prstGeom>
          <a:ln w="25400">
            <a:solidFill>
              <a:srgbClr val="F5B7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720840" y="4370832"/>
            <a:ext cx="2148840" cy="713232"/>
          </a:xfrm>
          <a:prstGeom prst="roundRect">
            <a:avLst/>
          </a:prstGeom>
          <a:solidFill>
            <a:srgbClr val="20445F"/>
          </a:solidFill>
          <a:ln>
            <a:solidFill>
              <a:srgbClr val="54CD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8FAFD"/>
                </a:solidFill>
                <a:latin typeface="Aptos"/>
              </a:rPr>
              <a:t>Lamp output (Y)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4270248"/>
            <a:ext cx="2286000" cy="10058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E2EBF5"/>
                </a:solidFill>
                <a:latin typeface="Aptos"/>
              </a:rPr>
              <a:t>Assumption for this model: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E2EBF5"/>
                </a:solidFill>
                <a:latin typeface="Aptos"/>
              </a:rPr>
              <a:t>L = 1 → bright daylight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E2EBF5"/>
                </a:solidFill>
                <a:latin typeface="Aptos"/>
              </a:rPr>
              <a:t>L = 0 → darkness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5669280"/>
            <a:ext cx="10881360" cy="41148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8FAFD"/>
                </a:solidFill>
                <a:latin typeface="Aptos"/>
              </a:rPr>
              <a:t>Design rule:  Y = ¬L  (lamp is ON only when the sensor indicates darkness).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E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9875520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FBEB0"/>
                </a:solidFill>
                <a:latin typeface="Aptos"/>
              </a:rPr>
              <a:t>02  |  CONCEPTS BEHIND THE CIRCUIT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3035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F8FAFD"/>
                </a:solidFill>
                <a:latin typeface="Aptos"/>
              </a:rPr>
              <a:t>Theory: Combinational Logic &amp; Boolean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43584"/>
            <a:ext cx="685800" cy="50292"/>
          </a:xfrm>
          <a:prstGeom prst="rect">
            <a:avLst/>
          </a:prstGeom>
          <a:solidFill>
            <a:srgbClr val="F5B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6519672"/>
            <a:ext cx="8229600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1" i="0">
                <a:solidFill>
                  <a:srgbClr val="A4B7CD"/>
                </a:solidFill>
                <a:latin typeface="Aptos"/>
              </a:rPr>
              <a:t>MODULE 2  •  COMBINATIONAL LOGIC &amp; THE ALU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02920" cy="20116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1" i="0">
                <a:solidFill>
                  <a:srgbClr val="A4B7CD"/>
                </a:solidFill>
                <a:latin typeface="Aptos"/>
              </a:rPr>
              <a:t>03 / 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572768"/>
            <a:ext cx="3520440" cy="1417320"/>
          </a:xfrm>
          <a:prstGeom prst="roundRect">
            <a:avLst/>
          </a:prstGeom>
          <a:solidFill>
            <a:srgbClr val="17304E"/>
          </a:solidFill>
          <a:ln>
            <a:solidFill>
              <a:srgbClr val="2D48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94360" y="1682495"/>
            <a:ext cx="50292" cy="1197864"/>
          </a:xfrm>
          <a:prstGeom prst="rect">
            <a:avLst/>
          </a:prstGeom>
          <a:solidFill>
            <a:srgbClr val="1FBE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5528" y="1728216"/>
            <a:ext cx="3136392" cy="310896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8FAFD"/>
                </a:solidFill>
                <a:latin typeface="Aptos"/>
              </a:rPr>
              <a:t>COMBINATIONAL LOGIC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121408"/>
            <a:ext cx="3174908" cy="506805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 dirty="0">
                <a:solidFill>
                  <a:srgbClr val="E2EBF5"/>
                </a:solidFill>
                <a:latin typeface="Aptos"/>
              </a:rPr>
              <a:t>Outputs depend only on the current inputs. </a:t>
            </a:r>
            <a:endParaRPr lang="en-IN" sz="1300" b="0" i="0" dirty="0">
              <a:solidFill>
                <a:srgbClr val="E2EBF5"/>
              </a:solidFill>
              <a:latin typeface="Aptos"/>
            </a:endParaRPr>
          </a:p>
          <a:p>
            <a:pPr algn="l">
              <a:spcAft>
                <a:spcPts val="400"/>
              </a:spcAft>
            </a:pPr>
            <a:r>
              <a:rPr sz="1300" b="0" i="0" dirty="0">
                <a:solidFill>
                  <a:srgbClr val="E2EBF5"/>
                </a:solidFill>
                <a:latin typeface="Aptos"/>
              </a:rPr>
              <a:t>The circuit has no memory or clocked state.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5112" y="1572768"/>
            <a:ext cx="3520440" cy="1417320"/>
          </a:xfrm>
          <a:prstGeom prst="roundRect">
            <a:avLst/>
          </a:prstGeom>
          <a:solidFill>
            <a:srgbClr val="17304E"/>
          </a:solidFill>
          <a:ln>
            <a:solidFill>
              <a:srgbClr val="2D48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25112" y="1682495"/>
            <a:ext cx="50292" cy="1197864"/>
          </a:xfrm>
          <a:prstGeom prst="rect">
            <a:avLst/>
          </a:prstGeom>
          <a:solidFill>
            <a:srgbClr val="F5B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26280" y="1728216"/>
            <a:ext cx="3136392" cy="310896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8FAFD"/>
                </a:solidFill>
                <a:latin typeface="Aptos"/>
              </a:rPr>
              <a:t>LOGIC GATES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17136" y="2065158"/>
            <a:ext cx="3136392" cy="45550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 dirty="0">
                <a:solidFill>
                  <a:srgbClr val="E2EBF5"/>
                </a:solidFill>
                <a:latin typeface="Aptos"/>
              </a:rPr>
              <a:t>NOT inverts a signal; AND is 1 only when all inputs</a:t>
            </a:r>
            <a:r>
              <a:rPr lang="en-IN" sz="1300" dirty="0">
                <a:solidFill>
                  <a:srgbClr val="E2EBF5"/>
                </a:solidFill>
                <a:latin typeface="Aptos"/>
              </a:rPr>
              <a:t> </a:t>
            </a:r>
            <a:r>
              <a:rPr sz="1300" b="0" i="0" dirty="0">
                <a:solidFill>
                  <a:srgbClr val="E2EBF5"/>
                </a:solidFill>
                <a:latin typeface="Aptos"/>
              </a:rPr>
              <a:t>are 1; OR is 1 when any input is 1.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55864" y="1572768"/>
            <a:ext cx="3520440" cy="1417320"/>
          </a:xfrm>
          <a:prstGeom prst="roundRect">
            <a:avLst/>
          </a:prstGeom>
          <a:solidFill>
            <a:srgbClr val="17304E"/>
          </a:solidFill>
          <a:ln>
            <a:solidFill>
              <a:srgbClr val="2D48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55864" y="1682495"/>
            <a:ext cx="50292" cy="1197864"/>
          </a:xfrm>
          <a:prstGeom prst="rect">
            <a:avLst/>
          </a:prstGeom>
          <a:solidFill>
            <a:srgbClr val="54C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57032" y="1728216"/>
            <a:ext cx="3136392" cy="310896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8FAFD"/>
                </a:solidFill>
                <a:latin typeface="Aptos"/>
              </a:rPr>
              <a:t>BOOLEAN EXPRESSION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57032" y="2121408"/>
            <a:ext cx="2988447" cy="506805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 dirty="0">
                <a:solidFill>
                  <a:srgbClr val="E2EBF5"/>
                </a:solidFill>
                <a:latin typeface="Aptos"/>
              </a:rPr>
              <a:t>For the stated sensor convention, Y = ¬L. </a:t>
            </a:r>
            <a:endParaRPr lang="en-IN" sz="1300" b="0" i="0" dirty="0">
              <a:solidFill>
                <a:srgbClr val="E2EBF5"/>
              </a:solidFill>
              <a:latin typeface="Aptos"/>
            </a:endParaRPr>
          </a:p>
          <a:p>
            <a:pPr algn="l">
              <a:spcAft>
                <a:spcPts val="400"/>
              </a:spcAft>
            </a:pPr>
            <a:r>
              <a:rPr sz="1300" b="0" i="0" dirty="0">
                <a:solidFill>
                  <a:srgbClr val="E2EBF5"/>
                </a:solidFill>
                <a:latin typeface="Aptos"/>
              </a:rPr>
              <a:t>A single inverter is sufficient.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3337560"/>
            <a:ext cx="4572000" cy="29260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FBEB0"/>
                </a:solidFill>
                <a:latin typeface="Aptos"/>
              </a:rPr>
              <a:t>LOGIC CIRCUIT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3977639"/>
            <a:ext cx="1828800" cy="822960"/>
          </a:xfrm>
          <a:prstGeom prst="roundRect">
            <a:avLst/>
          </a:prstGeom>
          <a:solidFill>
            <a:srgbClr val="20445F"/>
          </a:solidFill>
          <a:ln>
            <a:solidFill>
              <a:srgbClr val="1FBE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8FAFD"/>
                </a:solidFill>
                <a:latin typeface="Aptos"/>
              </a:rPr>
              <a:t>L (sensor)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743200" y="4389120"/>
            <a:ext cx="1143000" cy="0"/>
          </a:xfrm>
          <a:prstGeom prst="line">
            <a:avLst/>
          </a:prstGeom>
          <a:ln w="25400">
            <a:solidFill>
              <a:srgbClr val="1FBE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3886200" y="3977639"/>
            <a:ext cx="1920240" cy="822960"/>
          </a:xfrm>
          <a:prstGeom prst="roundRect">
            <a:avLst/>
          </a:prstGeom>
          <a:solidFill>
            <a:srgbClr val="20445F"/>
          </a:solidFill>
          <a:ln>
            <a:solidFill>
              <a:srgbClr val="F5B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8FAFD"/>
                </a:solidFill>
                <a:latin typeface="Aptos"/>
              </a:rPr>
              <a:t>NOT gate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806440" y="4389120"/>
            <a:ext cx="1143000" cy="0"/>
          </a:xfrm>
          <a:prstGeom prst="line">
            <a:avLst/>
          </a:prstGeom>
          <a:ln w="25400">
            <a:solidFill>
              <a:srgbClr val="1FBE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949440" y="3977639"/>
            <a:ext cx="1920240" cy="822960"/>
          </a:xfrm>
          <a:prstGeom prst="roundRect">
            <a:avLst/>
          </a:prstGeom>
          <a:solidFill>
            <a:srgbClr val="20445F"/>
          </a:solidFill>
          <a:ln>
            <a:solidFill>
              <a:srgbClr val="54CD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8FAFD"/>
                </a:solidFill>
                <a:latin typeface="Aptos"/>
              </a:rPr>
              <a:t>Y (lamp)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9720" y="3822191"/>
            <a:ext cx="2194560" cy="10058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E2EBF5"/>
                </a:solidFill>
                <a:latin typeface="Aptos"/>
              </a:rPr>
              <a:t>Truth table</a:t>
            </a:r>
          </a:p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E2EBF5"/>
                </a:solidFill>
                <a:latin typeface="Aptos"/>
              </a:rPr>
              <a:t>L = 0 → Y = 1</a:t>
            </a:r>
          </a:p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E2EBF5"/>
                </a:solidFill>
                <a:latin typeface="Aptos"/>
              </a:rPr>
              <a:t>L = 1 → Y = 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5349240"/>
            <a:ext cx="10840853" cy="47602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 dirty="0">
                <a:solidFill>
                  <a:srgbClr val="E2EBF5"/>
                </a:solidFill>
                <a:latin typeface="Aptos"/>
              </a:rPr>
              <a:t>K-map note: With one input, the truth table itself gives the simplest expression: Y = ¬L. For larger multi-input versions, Karnaugh maps group adjacent 1s to simplify </a:t>
            </a:r>
            <a:endParaRPr lang="en-IN" sz="1200" b="0" i="0">
              <a:solidFill>
                <a:srgbClr val="E2EBF5"/>
              </a:solidFill>
              <a:latin typeface="Aptos"/>
            </a:endParaRP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E2EBF5"/>
                </a:solidFill>
                <a:latin typeface="Aptos"/>
              </a:rPr>
              <a:t>Boolean expressions and reduce gate count.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E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9875520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FBEB0"/>
                </a:solidFill>
                <a:latin typeface="Aptos"/>
              </a:rPr>
              <a:t>03  |  IMPLEMENTATION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3035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F8FAFD"/>
                </a:solidFill>
                <a:latin typeface="Aptos"/>
              </a:rPr>
              <a:t>Circuit Design in Logisim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43584"/>
            <a:ext cx="685800" cy="50292"/>
          </a:xfrm>
          <a:prstGeom prst="rect">
            <a:avLst/>
          </a:prstGeom>
          <a:solidFill>
            <a:srgbClr val="F5B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6519672"/>
            <a:ext cx="8229600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1" i="0">
                <a:solidFill>
                  <a:srgbClr val="A4B7CD"/>
                </a:solidFill>
                <a:latin typeface="Aptos"/>
              </a:rPr>
              <a:t>MODULE 2  •  COMBINATIONAL LOGIC &amp; THE ALU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02920" cy="20116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1" i="0">
                <a:solidFill>
                  <a:srgbClr val="A4B7CD"/>
                </a:solidFill>
                <a:latin typeface="Aptos"/>
              </a:rPr>
              <a:t>04 / 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08760"/>
            <a:ext cx="6766560" cy="3200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FBEB0"/>
                </a:solidFill>
                <a:latin typeface="Aptos"/>
              </a:rPr>
              <a:t>BUILD THE CIRCUIT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901952"/>
            <a:ext cx="6629400" cy="3429000"/>
          </a:xfrm>
          <a:prstGeom prst="roundRect">
            <a:avLst/>
          </a:prstGeom>
          <a:solidFill>
            <a:srgbClr val="091322"/>
          </a:solidFill>
          <a:ln>
            <a:solidFill>
              <a:srgbClr val="3A53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029968"/>
            <a:ext cx="6126480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A4B7CD"/>
                </a:solidFill>
                <a:latin typeface="Aptos"/>
              </a:rPr>
              <a:t>Logisim-style schematic preview  •  NOT gate model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3154680"/>
            <a:ext cx="1417320" cy="658368"/>
          </a:xfrm>
          <a:prstGeom prst="roundRect">
            <a:avLst/>
          </a:prstGeom>
          <a:solidFill>
            <a:srgbClr val="20445F"/>
          </a:solidFill>
          <a:ln>
            <a:solidFill>
              <a:srgbClr val="1FBE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8FAFD"/>
                </a:solidFill>
                <a:latin typeface="Aptos"/>
              </a:rPr>
              <a:t>INPUT L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423160" y="3483864"/>
            <a:ext cx="914400" cy="0"/>
          </a:xfrm>
          <a:prstGeom prst="line">
            <a:avLst/>
          </a:prstGeom>
          <a:ln w="25400">
            <a:solidFill>
              <a:srgbClr val="1FBE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337560" y="3063240"/>
            <a:ext cx="1417320" cy="841248"/>
          </a:xfrm>
          <a:prstGeom prst="roundRect">
            <a:avLst/>
          </a:prstGeom>
          <a:solidFill>
            <a:srgbClr val="20445F"/>
          </a:solidFill>
          <a:ln>
            <a:solidFill>
              <a:srgbClr val="F5B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8FAFD"/>
                </a:solidFill>
                <a:latin typeface="Aptos"/>
              </a:rPr>
              <a:t>NOT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754880" y="3483864"/>
            <a:ext cx="822960" cy="0"/>
          </a:xfrm>
          <a:prstGeom prst="line">
            <a:avLst/>
          </a:prstGeom>
          <a:ln w="25400">
            <a:solidFill>
              <a:srgbClr val="1FBE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577840" y="3154680"/>
            <a:ext cx="1234440" cy="658368"/>
          </a:xfrm>
          <a:prstGeom prst="roundRect">
            <a:avLst/>
          </a:prstGeom>
          <a:solidFill>
            <a:srgbClr val="20445F"/>
          </a:solidFill>
          <a:ln>
            <a:solidFill>
              <a:srgbClr val="54CD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8FAFD"/>
                </a:solidFill>
                <a:latin typeface="Aptos"/>
              </a:rPr>
              <a:t>OUTPUT 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279392"/>
            <a:ext cx="6061788" cy="47602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 dirty="0">
                <a:solidFill>
                  <a:srgbClr val="E2EBF5"/>
                </a:solidFill>
                <a:latin typeface="Aptos"/>
              </a:rPr>
              <a:t>Set L as an input pin and Y as an output pin. Connect L through a NOT gate to Y, then toggle </a:t>
            </a:r>
            <a:endParaRPr lang="en-IN" sz="1200" b="0" i="0">
              <a:solidFill>
                <a:srgbClr val="E2EBF5"/>
              </a:solidFill>
              <a:latin typeface="Aptos"/>
            </a:endParaRP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E2EBF5"/>
                </a:solidFill>
                <a:latin typeface="Aptos"/>
              </a:rPr>
              <a:t>L to test both states.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35240" y="1783080"/>
            <a:ext cx="3886200" cy="1234440"/>
          </a:xfrm>
          <a:prstGeom prst="roundRect">
            <a:avLst/>
          </a:prstGeom>
          <a:solidFill>
            <a:srgbClr val="17304E"/>
          </a:solidFill>
          <a:ln>
            <a:solidFill>
              <a:srgbClr val="2D48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635240" y="1892807"/>
            <a:ext cx="50292" cy="1014984"/>
          </a:xfrm>
          <a:prstGeom prst="rect">
            <a:avLst/>
          </a:prstGeom>
          <a:solidFill>
            <a:srgbClr val="1FBE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836408" y="1938528"/>
            <a:ext cx="3502152" cy="310896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8FAFD"/>
                </a:solidFill>
                <a:latin typeface="Aptos"/>
              </a:rPr>
              <a:t>1. PLACE COMPONENTS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36408" y="2331720"/>
            <a:ext cx="3502152" cy="57607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E2EBF5"/>
                </a:solidFill>
                <a:latin typeface="Aptos"/>
              </a:rPr>
              <a:t>Input pin • NOT gate • Output pin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35240" y="3182112"/>
            <a:ext cx="3886200" cy="1234440"/>
          </a:xfrm>
          <a:prstGeom prst="roundRect">
            <a:avLst/>
          </a:prstGeom>
          <a:solidFill>
            <a:srgbClr val="17304E"/>
          </a:solidFill>
          <a:ln>
            <a:solidFill>
              <a:srgbClr val="2D48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635240" y="3291840"/>
            <a:ext cx="50292" cy="1014984"/>
          </a:xfrm>
          <a:prstGeom prst="rect">
            <a:avLst/>
          </a:prstGeom>
          <a:solidFill>
            <a:srgbClr val="F5B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836408" y="3337560"/>
            <a:ext cx="3502152" cy="310896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8FAFD"/>
                </a:solidFill>
                <a:latin typeface="Aptos"/>
              </a:rPr>
              <a:t>2. CONNECT WIRES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36408" y="3730752"/>
            <a:ext cx="3577005" cy="506805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 dirty="0">
                <a:solidFill>
                  <a:srgbClr val="E2EBF5"/>
                </a:solidFill>
                <a:latin typeface="Aptos"/>
              </a:rPr>
              <a:t>Wire L → NOT → Y; ensure every connection snaps </a:t>
            </a:r>
            <a:endParaRPr lang="en-IN" sz="1300" b="0" i="0" dirty="0">
              <a:solidFill>
                <a:srgbClr val="E2EBF5"/>
              </a:solidFill>
              <a:latin typeface="Aptos"/>
            </a:endParaRPr>
          </a:p>
          <a:p>
            <a:pPr algn="l">
              <a:spcAft>
                <a:spcPts val="400"/>
              </a:spcAft>
            </a:pPr>
            <a:r>
              <a:rPr sz="1300" b="0" i="0" dirty="0">
                <a:solidFill>
                  <a:srgbClr val="E2EBF5"/>
                </a:solidFill>
                <a:latin typeface="Aptos"/>
              </a:rPr>
              <a:t>to a pin.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35240" y="4581144"/>
            <a:ext cx="3886200" cy="1234440"/>
          </a:xfrm>
          <a:prstGeom prst="roundRect">
            <a:avLst/>
          </a:prstGeom>
          <a:solidFill>
            <a:srgbClr val="17304E"/>
          </a:solidFill>
          <a:ln>
            <a:solidFill>
              <a:srgbClr val="2D48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635240" y="4690872"/>
            <a:ext cx="50292" cy="1014984"/>
          </a:xfrm>
          <a:prstGeom prst="rect">
            <a:avLst/>
          </a:prstGeom>
          <a:solidFill>
            <a:srgbClr val="54C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836408" y="4736592"/>
            <a:ext cx="3502152" cy="310896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8FAFD"/>
                </a:solidFill>
                <a:latin typeface="Aptos"/>
              </a:rPr>
              <a:t>3. TEST BOTH STATES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36408" y="5129783"/>
            <a:ext cx="3727880" cy="506805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 dirty="0">
                <a:solidFill>
                  <a:srgbClr val="E2EBF5"/>
                </a:solidFill>
                <a:latin typeface="Aptos"/>
              </a:rPr>
              <a:t>Toggle L between 0 and 1 and check that Y changes </a:t>
            </a:r>
            <a:endParaRPr lang="en-IN" sz="1300" b="0" i="0" dirty="0">
              <a:solidFill>
                <a:srgbClr val="E2EBF5"/>
              </a:solidFill>
              <a:latin typeface="Aptos"/>
            </a:endParaRPr>
          </a:p>
          <a:p>
            <a:pPr algn="l">
              <a:spcAft>
                <a:spcPts val="400"/>
              </a:spcAft>
            </a:pPr>
            <a:r>
              <a:rPr sz="1300" b="0" i="0" dirty="0">
                <a:solidFill>
                  <a:srgbClr val="E2EBF5"/>
                </a:solidFill>
                <a:latin typeface="Aptos"/>
              </a:rPr>
              <a:t>to the opposite value.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" y="5687568"/>
            <a:ext cx="6400800" cy="329184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1">
                <a:solidFill>
                  <a:srgbClr val="A4B7CD"/>
                </a:solidFill>
                <a:latin typeface="Aptos"/>
              </a:rPr>
              <a:t>Note: schematic shown here is an illustrative circuit layout, not a screenshot captured from Logisim.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E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9875520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FBEB0"/>
                </a:solidFill>
                <a:latin typeface="Aptos"/>
              </a:rPr>
              <a:t>04  | 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3035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F8FAFD"/>
                </a:solidFill>
                <a:latin typeface="Aptos"/>
              </a:rPr>
              <a:t>Simulation Results &amp; Truth Table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43584"/>
            <a:ext cx="685800" cy="50292"/>
          </a:xfrm>
          <a:prstGeom prst="rect">
            <a:avLst/>
          </a:prstGeom>
          <a:solidFill>
            <a:srgbClr val="F5B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6519672"/>
            <a:ext cx="8229600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1" i="0">
                <a:solidFill>
                  <a:srgbClr val="A4B7CD"/>
                </a:solidFill>
                <a:latin typeface="Aptos"/>
              </a:rPr>
              <a:t>MODULE 2  •  COMBINATIONAL LOGIC &amp; THE ALU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02920" cy="20116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1" i="0">
                <a:solidFill>
                  <a:srgbClr val="A4B7CD"/>
                </a:solidFill>
                <a:latin typeface="Aptos"/>
              </a:rPr>
              <a:t>05 / 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481328"/>
            <a:ext cx="4572000" cy="29260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FBEB0"/>
                </a:solidFill>
                <a:latin typeface="Aptos"/>
              </a:rPr>
              <a:t>EXPECTED INPUT–OUTPUT COMBINATIONS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965960"/>
            <a:ext cx="2011680" cy="576072"/>
          </a:xfrm>
          <a:prstGeom prst="rect">
            <a:avLst/>
          </a:prstGeom>
          <a:solidFill>
            <a:srgbClr val="214963"/>
          </a:solidFill>
          <a:ln>
            <a:solidFill>
              <a:srgbClr val="4B67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2" y="2103120"/>
            <a:ext cx="1865376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8FAFD"/>
                </a:solidFill>
                <a:latin typeface="Aptos"/>
              </a:rPr>
              <a:t>Light input L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1965960"/>
            <a:ext cx="2011680" cy="576072"/>
          </a:xfrm>
          <a:prstGeom prst="rect">
            <a:avLst/>
          </a:prstGeom>
          <a:solidFill>
            <a:srgbClr val="214963"/>
          </a:solidFill>
          <a:ln>
            <a:solidFill>
              <a:srgbClr val="4B67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816352" y="2103120"/>
            <a:ext cx="1865376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8FAFD"/>
                </a:solidFill>
                <a:latin typeface="Aptos"/>
              </a:rPr>
              <a:t>Lamp output 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0" y="1965960"/>
            <a:ext cx="2011680" cy="576072"/>
          </a:xfrm>
          <a:prstGeom prst="rect">
            <a:avLst/>
          </a:prstGeom>
          <a:solidFill>
            <a:srgbClr val="214963"/>
          </a:solidFill>
          <a:ln>
            <a:solidFill>
              <a:srgbClr val="4B67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28032" y="2103120"/>
            <a:ext cx="1865376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8FAFD"/>
                </a:solidFill>
                <a:latin typeface="Aptos"/>
              </a:rPr>
              <a:t>Interpretation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2542032"/>
            <a:ext cx="2011680" cy="576072"/>
          </a:xfrm>
          <a:prstGeom prst="rect">
            <a:avLst/>
          </a:prstGeom>
          <a:solidFill>
            <a:srgbClr val="152C44"/>
          </a:solidFill>
          <a:ln>
            <a:solidFill>
              <a:srgbClr val="4B67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4672" y="2688336"/>
            <a:ext cx="1865376" cy="25603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E2EBF5"/>
                </a:solidFill>
                <a:latin typeface="Aptos"/>
              </a:rPr>
              <a:t>0 (dark)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0" y="2542032"/>
            <a:ext cx="2011680" cy="576072"/>
          </a:xfrm>
          <a:prstGeom prst="rect">
            <a:avLst/>
          </a:prstGeom>
          <a:solidFill>
            <a:srgbClr val="152C44"/>
          </a:solidFill>
          <a:ln>
            <a:solidFill>
              <a:srgbClr val="4B67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816352" y="2688336"/>
            <a:ext cx="1865376" cy="25603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E2EBF5"/>
                </a:solidFill>
                <a:latin typeface="Aptos"/>
              </a:rPr>
              <a:t>1 (ON)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54880" y="2542032"/>
            <a:ext cx="2011680" cy="576072"/>
          </a:xfrm>
          <a:prstGeom prst="rect">
            <a:avLst/>
          </a:prstGeom>
          <a:solidFill>
            <a:srgbClr val="152C44"/>
          </a:solidFill>
          <a:ln>
            <a:solidFill>
              <a:srgbClr val="4B67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28032" y="2688336"/>
            <a:ext cx="1865376" cy="25603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E2EBF5"/>
                </a:solidFill>
                <a:latin typeface="Aptos"/>
              </a:rPr>
              <a:t>Lamp switches 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3118104"/>
            <a:ext cx="2011680" cy="576072"/>
          </a:xfrm>
          <a:prstGeom prst="rect">
            <a:avLst/>
          </a:prstGeom>
          <a:solidFill>
            <a:srgbClr val="1A3349"/>
          </a:solidFill>
          <a:ln>
            <a:solidFill>
              <a:srgbClr val="4B67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04672" y="3264408"/>
            <a:ext cx="1865376" cy="25603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E2EBF5"/>
                </a:solidFill>
                <a:latin typeface="Aptos"/>
              </a:rPr>
              <a:t>1 (bright)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0" y="3118104"/>
            <a:ext cx="2011680" cy="576072"/>
          </a:xfrm>
          <a:prstGeom prst="rect">
            <a:avLst/>
          </a:prstGeom>
          <a:solidFill>
            <a:srgbClr val="1A3349"/>
          </a:solidFill>
          <a:ln>
            <a:solidFill>
              <a:srgbClr val="4B67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816352" y="3264408"/>
            <a:ext cx="1865376" cy="25603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E2EBF5"/>
                </a:solidFill>
                <a:latin typeface="Aptos"/>
              </a:rPr>
              <a:t>0 (OFF)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54880" y="3118104"/>
            <a:ext cx="2011680" cy="576072"/>
          </a:xfrm>
          <a:prstGeom prst="rect">
            <a:avLst/>
          </a:prstGeom>
          <a:solidFill>
            <a:srgbClr val="1A3349"/>
          </a:solidFill>
          <a:ln>
            <a:solidFill>
              <a:srgbClr val="4B67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828032" y="3264408"/>
            <a:ext cx="1865376" cy="25603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E2EBF5"/>
                </a:solidFill>
                <a:latin typeface="Aptos"/>
              </a:rPr>
              <a:t>Lamp switches OFF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06640" y="1783080"/>
            <a:ext cx="4114800" cy="1234440"/>
          </a:xfrm>
          <a:prstGeom prst="roundRect">
            <a:avLst/>
          </a:prstGeom>
          <a:solidFill>
            <a:srgbClr val="17304E"/>
          </a:solidFill>
          <a:ln>
            <a:solidFill>
              <a:srgbClr val="2D48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406640" y="1892807"/>
            <a:ext cx="50292" cy="1014984"/>
          </a:xfrm>
          <a:prstGeom prst="rect">
            <a:avLst/>
          </a:prstGeom>
          <a:solidFill>
            <a:srgbClr val="54C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607808" y="1938528"/>
            <a:ext cx="3730752" cy="310896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8FAFD"/>
                </a:solidFill>
                <a:latin typeface="Aptos"/>
              </a:rPr>
              <a:t>TEST CASE 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07808" y="2331720"/>
            <a:ext cx="3730752" cy="57607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E2EBF5"/>
                </a:solidFill>
                <a:latin typeface="Aptos"/>
              </a:rPr>
              <a:t>Set L = 0 (darkness). Expected: Y = 1, lamp ON.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06640" y="3182112"/>
            <a:ext cx="4114800" cy="1234440"/>
          </a:xfrm>
          <a:prstGeom prst="roundRect">
            <a:avLst/>
          </a:prstGeom>
          <a:solidFill>
            <a:srgbClr val="17304E"/>
          </a:solidFill>
          <a:ln>
            <a:solidFill>
              <a:srgbClr val="2D48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406640" y="3291840"/>
            <a:ext cx="50292" cy="1014984"/>
          </a:xfrm>
          <a:prstGeom prst="rect">
            <a:avLst/>
          </a:prstGeom>
          <a:solidFill>
            <a:srgbClr val="F5B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607808" y="3337560"/>
            <a:ext cx="3730752" cy="310896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8FAFD"/>
                </a:solidFill>
                <a:latin typeface="Aptos"/>
              </a:rPr>
              <a:t>TEST CASE 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07808" y="3730752"/>
            <a:ext cx="3730752" cy="57607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E2EBF5"/>
                </a:solidFill>
                <a:latin typeface="Aptos"/>
              </a:rPr>
              <a:t>Set L = 1 (daylight). Expected: Y = 0, lamp OFF.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406640" y="4581144"/>
            <a:ext cx="4114800" cy="1234440"/>
          </a:xfrm>
          <a:prstGeom prst="roundRect">
            <a:avLst/>
          </a:prstGeom>
          <a:solidFill>
            <a:srgbClr val="17304E"/>
          </a:solidFill>
          <a:ln>
            <a:solidFill>
              <a:srgbClr val="2D48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7406640" y="4690872"/>
            <a:ext cx="50292" cy="1014984"/>
          </a:xfrm>
          <a:prstGeom prst="rect">
            <a:avLst/>
          </a:prstGeom>
          <a:solidFill>
            <a:srgbClr val="1FBE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607808" y="4736592"/>
            <a:ext cx="3730752" cy="310896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8FAFD"/>
                </a:solidFill>
                <a:latin typeface="Aptos"/>
              </a:rPr>
              <a:t>RESULT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07809" y="5010912"/>
            <a:ext cx="3761232" cy="60939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 dirty="0">
                <a:solidFill>
                  <a:srgbClr val="E2EBF5"/>
                </a:solidFill>
                <a:latin typeface="Aptos"/>
              </a:rPr>
              <a:t>The truth table matches Y = ¬L. Replace this illustrative preview with </a:t>
            </a:r>
            <a:r>
              <a:rPr lang="en-IN" sz="1200" b="0" i="0" dirty="0">
                <a:solidFill>
                  <a:srgbClr val="E2EBF5"/>
                </a:solidFill>
                <a:latin typeface="Aptos"/>
              </a:rPr>
              <a:t> </a:t>
            </a:r>
            <a:r>
              <a:rPr sz="1200" b="0" i="0" dirty="0">
                <a:solidFill>
                  <a:srgbClr val="E2EBF5"/>
                </a:solidFill>
                <a:latin typeface="Aptos"/>
              </a:rPr>
              <a:t>actual Logisim screenshots after running the simulation.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8" y="4069080"/>
            <a:ext cx="5943600" cy="29260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FBEB0"/>
                </a:solidFill>
                <a:latin typeface="Aptos"/>
              </a:rPr>
              <a:t>SIMULATION STATE PREVIEW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2960" y="4572000"/>
            <a:ext cx="2743200" cy="914400"/>
          </a:xfrm>
          <a:prstGeom prst="roundRect">
            <a:avLst/>
          </a:prstGeom>
          <a:solidFill>
            <a:srgbClr val="1F3E53"/>
          </a:solidFill>
          <a:ln>
            <a:solidFill>
              <a:srgbClr val="54CD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32688" y="4709160"/>
            <a:ext cx="2514600" cy="219456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8FAFD"/>
                </a:solidFill>
                <a:latin typeface="Aptos"/>
              </a:rPr>
              <a:t>L = 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2688" y="5029200"/>
            <a:ext cx="2514600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54CD9A"/>
                </a:solidFill>
                <a:latin typeface="Aptos"/>
              </a:rPr>
              <a:t>Y = 1  •  ON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886200" y="4572000"/>
            <a:ext cx="2743200" cy="914400"/>
          </a:xfrm>
          <a:prstGeom prst="roundRect">
            <a:avLst/>
          </a:prstGeom>
          <a:solidFill>
            <a:srgbClr val="1F3E53"/>
          </a:solidFill>
          <a:ln>
            <a:solidFill>
              <a:srgbClr val="F7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995928" y="4709160"/>
            <a:ext cx="2514600" cy="219456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8FAFD"/>
                </a:solidFill>
                <a:latin typeface="Aptos"/>
              </a:rPr>
              <a:t>L = 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995928" y="5029200"/>
            <a:ext cx="2514600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F77171"/>
                </a:solidFill>
                <a:latin typeface="Aptos"/>
              </a:rPr>
              <a:t>Y = 0  •  OFF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9808" y="5806440"/>
            <a:ext cx="6035040" cy="29260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1">
                <a:solidFill>
                  <a:srgbClr val="A4B7CD"/>
                </a:solidFill>
                <a:latin typeface="Aptos"/>
              </a:rPr>
              <a:t>These are expected logical results, not captured simulator evidence.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E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65760"/>
            <a:ext cx="4572000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1FBEB0"/>
                </a:solidFill>
                <a:latin typeface="Aptos"/>
              </a:rPr>
              <a:t>05  |  CONCLUSION &amp;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8046720" cy="53035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8FAFD"/>
                </a:solidFill>
                <a:latin typeface="Aptos"/>
              </a:rPr>
              <a:t>Conclusion, Applications &amp; Future Scope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" y="1481328"/>
            <a:ext cx="3520440" cy="1481328"/>
          </a:xfrm>
          <a:prstGeom prst="roundRect">
            <a:avLst/>
          </a:prstGeom>
          <a:solidFill>
            <a:srgbClr val="17304E"/>
          </a:solidFill>
          <a:ln>
            <a:solidFill>
              <a:srgbClr val="2D48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21792" y="1591056"/>
            <a:ext cx="50292" cy="1261872"/>
          </a:xfrm>
          <a:prstGeom prst="rect">
            <a:avLst/>
          </a:prstGeom>
          <a:solidFill>
            <a:srgbClr val="1FBE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636776"/>
            <a:ext cx="3136392" cy="310896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8FAFD"/>
                </a:solidFill>
                <a:latin typeface="Aptos"/>
              </a:rPr>
              <a:t>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6196" y="1917334"/>
            <a:ext cx="3151632" cy="60939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dirty="0">
                <a:solidFill>
                  <a:srgbClr val="E2EBF5"/>
                </a:solidFill>
                <a:latin typeface="Aptos"/>
              </a:rPr>
              <a:t>A NOT-gate model demonstrates the core combinational decision: darkness turns the lamp ON; daylight turns it OFF.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34256" y="1481328"/>
            <a:ext cx="3520440" cy="1481328"/>
          </a:xfrm>
          <a:prstGeom prst="roundRect">
            <a:avLst/>
          </a:prstGeom>
          <a:solidFill>
            <a:srgbClr val="17304E"/>
          </a:solidFill>
          <a:ln>
            <a:solidFill>
              <a:srgbClr val="2D48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34256" y="1591056"/>
            <a:ext cx="50292" cy="1261872"/>
          </a:xfrm>
          <a:prstGeom prst="rect">
            <a:avLst/>
          </a:prstGeom>
          <a:solidFill>
            <a:srgbClr val="F5B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35424" y="1636776"/>
            <a:ext cx="3136392" cy="310896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8FAFD"/>
                </a:solidFill>
                <a:latin typeface="Aptos"/>
              </a:rPr>
              <a:t>APPLICATIONS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5424" y="2029968"/>
            <a:ext cx="3232360" cy="47602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dirty="0">
                <a:solidFill>
                  <a:srgbClr val="E2EBF5"/>
                </a:solidFill>
                <a:latin typeface="Aptos"/>
              </a:rPr>
              <a:t>Automatic outdoor lighting, campus pathways, </a:t>
            </a:r>
            <a:endParaRPr lang="en-IN" sz="1200" b="0" dirty="0">
              <a:solidFill>
                <a:srgbClr val="E2EBF5"/>
              </a:solidFill>
              <a:latin typeface="Aptos"/>
            </a:endParaRPr>
          </a:p>
          <a:p>
            <a:pPr algn="l">
              <a:spcAft>
                <a:spcPts val="400"/>
              </a:spcAft>
            </a:pPr>
            <a:r>
              <a:rPr sz="1200" b="0" dirty="0">
                <a:solidFill>
                  <a:srgbClr val="E2EBF5"/>
                </a:solidFill>
                <a:latin typeface="Aptos"/>
              </a:rPr>
              <a:t>parking areas and energy-aware lighting control.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481328"/>
            <a:ext cx="3520440" cy="1481328"/>
          </a:xfrm>
          <a:prstGeom prst="roundRect">
            <a:avLst/>
          </a:prstGeom>
          <a:solidFill>
            <a:srgbClr val="17304E"/>
          </a:solidFill>
          <a:ln>
            <a:solidFill>
              <a:srgbClr val="2D48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046720" y="1591056"/>
            <a:ext cx="50292" cy="1261872"/>
          </a:xfrm>
          <a:prstGeom prst="rect">
            <a:avLst/>
          </a:prstGeom>
          <a:solidFill>
            <a:srgbClr val="54C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47888" y="1636776"/>
            <a:ext cx="3136392" cy="310896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8FAFD"/>
                </a:solidFill>
                <a:latin typeface="Aptos"/>
              </a:rPr>
              <a:t>IMPROVEMENTS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7888" y="2029968"/>
            <a:ext cx="3136392" cy="60939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dirty="0">
                <a:solidFill>
                  <a:srgbClr val="E2EBF5"/>
                </a:solidFill>
                <a:latin typeface="Aptos"/>
              </a:rPr>
              <a:t>Add a dusk threshold, motion input, timer/hysteresis logic, and a transistor or relay driver for real lamps.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310128"/>
            <a:ext cx="5486400" cy="29260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BEB0"/>
                </a:solidFill>
                <a:latin typeface="Aptos"/>
              </a:rPr>
              <a:t>MODULE 2 CONNECTION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703320"/>
            <a:ext cx="10881359" cy="45550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dirty="0">
                <a:solidFill>
                  <a:srgbClr val="E2EBF5"/>
                </a:solidFill>
                <a:latin typeface="Aptos"/>
              </a:rPr>
              <a:t>The project follows the specification → Boolean expression → gate-level circuit → simulation → truth-table verification flow. </a:t>
            </a:r>
            <a:r>
              <a:rPr lang="en-US" sz="1300" b="0" dirty="0">
                <a:solidFill>
                  <a:srgbClr val="E2EBF5"/>
                </a:solidFill>
                <a:latin typeface="Aptos"/>
              </a:rPr>
              <a:t>It applies combinational logic directly; K-maps, adders, multiplexers, decoders and ALUs are broader Module 2 building blocks rather than required parts of this simple controller.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5074920"/>
            <a:ext cx="10835640" cy="32004"/>
          </a:xfrm>
          <a:prstGeom prst="rect">
            <a:avLst/>
          </a:prstGeom>
          <a:solidFill>
            <a:srgbClr val="F5B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66928" y="6473952"/>
            <a:ext cx="8229600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1">
                <a:solidFill>
                  <a:srgbClr val="A4B7CD"/>
                </a:solidFill>
                <a:latin typeface="Aptos"/>
              </a:rPr>
              <a:t>MODULE 2  •  COMBINATIONAL LOGIC &amp; THE ALU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473952"/>
            <a:ext cx="502920" cy="20116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1">
                <a:solidFill>
                  <a:srgbClr val="A4B7CD"/>
                </a:solidFill>
                <a:latin typeface="Aptos"/>
              </a:rPr>
              <a:t>06 / 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E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05840" y="914400"/>
            <a:ext cx="201168" cy="201168"/>
          </a:xfrm>
          <a:prstGeom prst="ellipse">
            <a:avLst/>
          </a:prstGeom>
          <a:solidFill>
            <a:srgbClr val="1FBE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828800" y="1554480"/>
            <a:ext cx="128016" cy="128016"/>
          </a:xfrm>
          <a:prstGeom prst="ellipse">
            <a:avLst/>
          </a:prstGeom>
          <a:solidFill>
            <a:srgbClr val="F5B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515600" y="914400"/>
            <a:ext cx="201168" cy="201168"/>
          </a:xfrm>
          <a:prstGeom prst="ellipse">
            <a:avLst/>
          </a:prstGeom>
          <a:solidFill>
            <a:srgbClr val="1FBE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784080" y="1554480"/>
            <a:ext cx="128016" cy="128016"/>
          </a:xfrm>
          <a:prstGeom prst="ellipse">
            <a:avLst/>
          </a:prstGeom>
          <a:solidFill>
            <a:srgbClr val="F5B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371600" y="5303520"/>
            <a:ext cx="164592" cy="164592"/>
          </a:xfrm>
          <a:prstGeom prst="ellipse">
            <a:avLst/>
          </a:prstGeom>
          <a:solidFill>
            <a:srgbClr val="F5B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241280" y="5394960"/>
            <a:ext cx="164592" cy="164592"/>
          </a:xfrm>
          <a:prstGeom prst="ellipse">
            <a:avLst/>
          </a:prstGeom>
          <a:solidFill>
            <a:srgbClr val="1FBE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74920" y="1188720"/>
            <a:ext cx="2011680" cy="1051560"/>
          </a:xfrm>
          <a:prstGeom prst="roundRect">
            <a:avLst/>
          </a:prstGeom>
          <a:solidFill>
            <a:srgbClr val="17304E"/>
          </a:solidFill>
          <a:ln w="25400">
            <a:solidFill>
              <a:srgbClr val="1FBE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230368" y="1517904"/>
            <a:ext cx="1691640" cy="32004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8FAFD"/>
                </a:solidFill>
                <a:latin typeface="Aptos"/>
              </a:rPr>
              <a:t>LOGIC • 01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754880" y="1353312"/>
            <a:ext cx="320040" cy="0"/>
          </a:xfrm>
          <a:prstGeom prst="line">
            <a:avLst/>
          </a:prstGeom>
          <a:ln w="19050">
            <a:solidFill>
              <a:srgbClr val="1FBE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086600" y="1353312"/>
            <a:ext cx="320040" cy="0"/>
          </a:xfrm>
          <a:prstGeom prst="line">
            <a:avLst/>
          </a:prstGeom>
          <a:ln w="19050">
            <a:solidFill>
              <a:srgbClr val="1FBE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54880" y="1581912"/>
            <a:ext cx="320040" cy="0"/>
          </a:xfrm>
          <a:prstGeom prst="line">
            <a:avLst/>
          </a:prstGeom>
          <a:ln w="19050">
            <a:solidFill>
              <a:srgbClr val="1FBE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086600" y="1581912"/>
            <a:ext cx="320040" cy="0"/>
          </a:xfrm>
          <a:prstGeom prst="line">
            <a:avLst/>
          </a:prstGeom>
          <a:ln w="19050">
            <a:solidFill>
              <a:srgbClr val="1FBE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754880" y="1810512"/>
            <a:ext cx="320040" cy="0"/>
          </a:xfrm>
          <a:prstGeom prst="line">
            <a:avLst/>
          </a:prstGeom>
          <a:ln w="19050">
            <a:solidFill>
              <a:srgbClr val="1FBE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086600" y="1810512"/>
            <a:ext cx="320040" cy="0"/>
          </a:xfrm>
          <a:prstGeom prst="line">
            <a:avLst/>
          </a:prstGeom>
          <a:ln w="19050">
            <a:solidFill>
              <a:srgbClr val="1FBE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754880" y="2039112"/>
            <a:ext cx="320040" cy="0"/>
          </a:xfrm>
          <a:prstGeom prst="line">
            <a:avLst/>
          </a:prstGeom>
          <a:ln w="19050">
            <a:solidFill>
              <a:srgbClr val="1FBE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086600" y="2039112"/>
            <a:ext cx="320040" cy="0"/>
          </a:xfrm>
          <a:prstGeom prst="line">
            <a:avLst/>
          </a:prstGeom>
          <a:ln w="19050">
            <a:solidFill>
              <a:srgbClr val="1FBE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914400" y="2743200"/>
            <a:ext cx="10332720" cy="91440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600" b="1">
                <a:solidFill>
                  <a:srgbClr val="F8FAFD"/>
                </a:solidFill>
                <a:latin typeface="Aptos"/>
              </a:rPr>
              <a:t>THANK YOU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657600"/>
            <a:ext cx="10332720" cy="41148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1FBEB0"/>
                </a:solidFill>
                <a:latin typeface="Aptos"/>
              </a:rPr>
              <a:t>Questions &amp; Discussion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12080" y="4315968"/>
            <a:ext cx="1737360" cy="41148"/>
          </a:xfrm>
          <a:prstGeom prst="rect">
            <a:avLst/>
          </a:prstGeom>
          <a:solidFill>
            <a:srgbClr val="F5B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4617720"/>
            <a:ext cx="10332720" cy="36576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E2EBF5"/>
                </a:solidFill>
                <a:latin typeface="Aptos"/>
              </a:rPr>
              <a:t>DESIGN &amp; SIMULATION OF AN AUTOMATIC STREET LIGHT CONTROLLER SYSTEM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074920"/>
            <a:ext cx="10332720" cy="3200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A4B7CD"/>
                </a:solidFill>
                <a:latin typeface="Aptos"/>
              </a:rPr>
              <a:t>Section 14  •  Module 2: Combinational Logic &amp; the ALU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473952"/>
            <a:ext cx="8229600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1">
                <a:solidFill>
                  <a:srgbClr val="A4B7CD"/>
                </a:solidFill>
                <a:latin typeface="Aptos"/>
              </a:rPr>
              <a:t>MODULE 2  •  COMBINATIONAL LOGIC &amp; THE ALU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473952"/>
            <a:ext cx="502920" cy="20116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1">
                <a:solidFill>
                  <a:srgbClr val="A4B7CD"/>
                </a:solidFill>
                <a:latin typeface="Apto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808</Words>
  <Application>Microsoft Office PowerPoint</Application>
  <PresentationFormat>Widescreen</PresentationFormat>
  <Paragraphs>117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Meghana Sruthi</dc:creator>
  <cp:keywords/>
  <dc:description>generated using python-pptx</dc:description>
  <cp:lastModifiedBy>meghanasruthi2007@outlook.com</cp:lastModifiedBy>
  <cp:revision>4</cp:revision>
  <dcterms:created xsi:type="dcterms:W3CDTF">2013-01-27T09:14:16Z</dcterms:created>
  <dcterms:modified xsi:type="dcterms:W3CDTF">2026-10-14T16:57:04Z</dcterms:modified>
  <cp:category/>
</cp:coreProperties>
</file>